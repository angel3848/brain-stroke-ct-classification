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27432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Brain Stroke CT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498DB"/>
                </a:solidFill>
                <a:latin typeface="Calibri"/>
              </a:defRPr>
            </a:pPr>
            <a:r>
              <a:t>Using Deep Learning and Traditional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Automated classification of brain CT images into hemorrhagic stroke, ischemic stroke, and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Models: ResNet-50  |  Logistic Regression  |  SVM  | 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Dataset: 6,650 Brain CT Images  |  3 Classes  |  PyTorch +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Stroke is the 2nd leading cause of death globally, affecting 15 million people per year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Hemorrhagic vs. ischemic stroke require completely different treatments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CT scans are the first-line imaging tool in emergency rooms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Interpreting CT scans requires expert radiologists who aren't always available 24/7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Early ischemic changes are subtle and frequently missed, even by trained specialists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Our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Build an automated classification system that can distinguish between Bleeding, Ischemia, and Normal CT scans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Compare deep learning (ResNet-50) against traditional ML (Logistic Regression, SVM, Random Forest)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Achieve clinically meaningful accuracy that could assist radiologists in emergency triage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Handle real-world challenges like class imbalance (Normal is 4x more common)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858000" cy="211203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280160"/>
            <a:ext cx="4114800" cy="49377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Key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92024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Total: 6,650 brain CT images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Bleeding: 1,093 (16.4%)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Ischemia: 1,130 (17.0%)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Normal: 4,427 (66.6%)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Split: 70% train / 15% val / 15% test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Stratified sampling preserves class ratios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  <a:latin typeface="Calibri"/>
              </a:rPr>
              <a:t>Challenge: Normal class is ~4x larger than stroke classes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Our Approach — The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1. Data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6,650 CT images</a:t>
            </a:r>
            <a:br/>
            <a:r>
              <a:t>70/15/15 stratified split</a:t>
            </a:r>
            <a:br/>
            <a:r>
              <a:t>PNG format, 224x224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137160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3512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98DB"/>
                </a:solidFill>
                <a:latin typeface="Calibri"/>
              </a:defRPr>
            </a:pPr>
            <a:r>
              <a:t>2.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2" y="19659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Augmentation: flip, rotation,</a:t>
            </a:r>
            <a:br/>
            <a:r>
              <a:t>translation, color jitter</a:t>
            </a:r>
            <a:br/>
            <a:r>
              <a:t>ImageNet normalization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4" y="137160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4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3. Class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6944" y="19659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Weighted random sampling</a:t>
            </a:r>
            <a:br/>
            <a:r>
              <a:t>Class-weighted loss function</a:t>
            </a:r>
            <a:br/>
            <a:r>
              <a:t>Balanced representation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137160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0376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4. Model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0376" y="19659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ResNet-50 fine-tuning</a:t>
            </a:r>
            <a:br/>
            <a:r>
              <a:t>Logistic Regression</a:t>
            </a:r>
            <a:br/>
            <a:r>
              <a:t>SVM (RBF) + Random Forest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56648" y="1371600"/>
            <a:ext cx="2011680" cy="29260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3808" y="1508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5.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8" y="1965960"/>
            <a:ext cx="1737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Accuracy, F1, Kappa, AUC</a:t>
            </a:r>
            <a:br/>
            <a:r>
              <a:t>Confusion matrices</a:t>
            </a:r>
            <a:br/>
            <a:r>
              <a:t>ROC &amp; PR curves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72000"/>
            <a:ext cx="11155680" cy="16459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ResNet-50 chosen for proven medical imaging performance + residual connections prevent vanishing gradients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Traditional ML classifiers use ResNet-50 as feature extractor (2048-d) for fair comparison on same representations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AdamW optimizer + cosine annealing LR + early stopping (patience=7) to prevent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Predicted 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Issue: Normal (66.6%) vastly outnumbers stroke classes — models will default to predicting Normal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3619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E0AA"/>
                </a:solidFill>
                <a:latin typeface="Calibri"/>
              </a:defRPr>
            </a:pPr>
            <a:r>
              <a:t>Solution: Weighted random sampling + class-weighted cross-entropy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3619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Result: Balanced per-class F1 scores; no majority-class bias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Ischemia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6207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Issue: Early ischemic changes are subtle on CT — even radiologists miss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86207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E0AA"/>
                </a:solidFill>
                <a:latin typeface="Calibri"/>
              </a:defRPr>
            </a:pPr>
            <a:r>
              <a:t>Solution: Transfer learning from ImageNet provides strong feature representations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86207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Result: 91.45% F1 on Ischemia (ResNet-50) — clinically meaningful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Overfitting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8795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Issue: Only 6,650 images — deep networks can memorize small datasets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8795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E0AA"/>
                </a:solidFill>
                <a:latin typeface="Calibri"/>
              </a:defRPr>
            </a:pPr>
            <a:r>
              <a:t>Solution: Data augmentation, dropout (0.5), early stopping, weight decay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18795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Result: Val accuracy (97.6%) closely tracks train accuracy — mild overfitting controlled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6636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High-Dimensional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1383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Issue: 2048-d ResNet features may overwhelm traditional ML classifiers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513832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2E0AA"/>
                </a:solidFill>
                <a:latin typeface="Calibri"/>
              </a:defRPr>
            </a:pPr>
            <a:r>
              <a:t>Solution: StandardScaler normalization; SVM with RBF kernel handles high-d well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51383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498DB"/>
                </a:solidFill>
                <a:latin typeface="Calibri"/>
              </a:defRPr>
            </a:pPr>
            <a:r>
              <a:t>Result: SVM reached 87.4%; Random Forest struggled (72.2%) — confirmed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ResNet-50 Results (Fine-Tuned)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96.49%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1887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234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  <a:latin typeface="Calibri"/>
              </a:defRPr>
            </a:pPr>
            <a:r>
              <a:t>95.28%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Macro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  <a:latin typeface="Calibri"/>
              </a:defRPr>
            </a:pPr>
            <a:r>
              <a:t>0.9299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Cohen's Kappa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18872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234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59B6"/>
                </a:solidFill>
                <a:latin typeface="Calibri"/>
              </a:defRPr>
            </a:pPr>
            <a:r>
              <a:t>0.9959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Micro AUC</a:t>
            </a:r>
          </a:p>
        </p:txBody>
      </p:sp>
      <p:pic>
        <p:nvPicPr>
          <p:cNvPr id="16" name="Picture 15" descr="confusion_matrix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60320"/>
            <a:ext cx="5943600" cy="21703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583680" y="2560320"/>
            <a:ext cx="5120640" cy="347472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Per-Class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Class         Precision   Recall    F1-Score    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29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/>
              </a:defRPr>
            </a:pPr>
            <a:r>
              <a:t>Bleeding      96.93%      96.34%    96.64%      0.9971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/>
              </a:defRPr>
            </a:pPr>
            <a:r>
              <a:t>Ischemia      91.72%      91.18%    91.45%      0.9918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/>
              </a:defRPr>
            </a:pPr>
            <a:r>
              <a:t>Normal        97.60%      97.89%    97.74%      0.9951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Only 35 misclassifications out of 998 test images.</a:t>
            </a:r>
            <a:br/>
            <a:r>
              <a:t>Ischemia is hardest — subtle early changes on 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ResNet-50 — Training Curves &amp; ROC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1877330"/>
          </a:xfrm>
          <a:prstGeom prst="rect">
            <a:avLst/>
          </a:prstGeom>
        </p:spPr>
      </p:pic>
      <p:pic>
        <p:nvPicPr>
          <p:cNvPr id="5" name="Picture 4" descr="roc_curves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4389120" cy="38321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Trained 27 epochs, best model at epoch 20 (early stopped with patience=7)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Training time: ~72 minutes on Apple MPS GPU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All classes achieve AUC &gt; 0.99 — near-perfect discrimination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  <a:latin typeface="Calibri"/>
              </a:rPr>
              <a:t>Mild overfitting in later epochs, effectively controlled by dropout + early stopping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Traditional ML Classifier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Features: 2048-d vectors extracted from pretrained ResNet-50 (ImageNet) + StandardScaler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SVM (RBF Kernel)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87.37%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Macro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81.74%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Kappa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0.7324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C=10, balanced weights</a:t>
            </a:r>
            <a:br/>
            <a:r>
              <a:t>Best traditional model</a:t>
            </a:r>
            <a:br/>
            <a:r>
              <a:t>Strong on Normal (96.2%)</a:t>
            </a:r>
            <a:br/>
            <a:r>
              <a:t>Weaker on stroke classes (~70% recall)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Logistic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81.66%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Macro 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75.29%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Kappa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0.6414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749039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LBFGS solver, balanced weights</a:t>
            </a:r>
            <a:br/>
            <a:r>
              <a:t>Middle performance</a:t>
            </a:r>
            <a:br/>
            <a:r>
              <a:t>Spreads errors more evenly</a:t>
            </a:r>
            <a:br/>
            <a:r>
              <a:t>Higher false positive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55448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72.24%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Macro F1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47.59%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Kappa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0.2551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749039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500 trees, balanced weights</a:t>
            </a:r>
            <a:br/>
            <a:r>
              <a:t>Struggles with 2048-d features</a:t>
            </a:r>
            <a:br/>
            <a:r>
              <a:t>Classifies ~78% of strokes as Normal</a:t>
            </a:r>
            <a:br/>
            <a:r>
              <a:t>Needs dimensionality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383589"/>
          </a:xfrm>
          <a:prstGeom prst="rect">
            <a:avLst/>
          </a:prstGeom>
        </p:spPr>
      </p:pic>
      <p:pic>
        <p:nvPicPr>
          <p:cNvPr id="5" name="Picture 4" descr="per_class_f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3835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75488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Full Comparison (Test Set)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Model                    Accuracy    Macro F1    Kappa     Micro 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675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68696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Consolas"/>
              </a:defRPr>
            </a:pPr>
            <a:r>
              <a:t>ResNet-50 (fine-tuned)   96.49%      95.28%      0.9299    0.9959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9864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SVM (RBF)                87.37%      81.74%      0.7324    0.9674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71032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Logistic Regression      81.66%      75.29%      0.6414    0.9375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nsolas"/>
              </a:defRPr>
            </a:pPr>
            <a:r>
              <a:t>Random Forest            72.24%      47.59%      0.2551    0.9080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Confusion Matrices — Traditional Classifiers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m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315200" cy="2671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SVM</a:t>
            </a:r>
          </a:p>
        </p:txBody>
      </p:sp>
      <p:pic>
        <p:nvPicPr>
          <p:cNvPr id="6" name="Picture 5" descr="cm_logistic_re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71799"/>
            <a:ext cx="7315200" cy="26711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3246119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Logistic Regression</a:t>
            </a:r>
          </a:p>
        </p:txBody>
      </p:sp>
      <p:pic>
        <p:nvPicPr>
          <p:cNvPr id="8" name="Picture 7" descr="cm_random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846318"/>
            <a:ext cx="7315200" cy="26711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5120638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98DB"/>
                </a:solidFill>
                <a:latin typeface="Calibri"/>
              </a:defRPr>
            </a:pPr>
            <a:r>
              <a:t>Random Forest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Sample Predictions — ResNet-50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mpl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319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Green = correct prediction  |  Red = incorrect prediction  |  Confidence shown in parentheses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Key Takeaways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Fine-tuned ResNet-50 (96.5%) vastly outperforms traditional ML (best: SVM at 87.4%)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End-to-end learning captures features that frozen extraction cannot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Ischemia is the hardest class across all models — consistent with clinical reality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Class imbalance was effectively handled with dual strategy (weighted sampling + weighted loss)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Random Forest fails on high-dimensional features without dimensionality reduction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All per-class AUCs exceed 0.99 for ResNet-50 — near-perfect discrimination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Multi-center external validation for generalizability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Grad-CAM explainability to visualize what the model sees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Hemorrhage subtype classification (epidural, subdural, etc.)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Volume-level prediction across full CT exam slices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Compare with Vision Transformers (ViT) and EfficientNet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0">
                <a:solidFill>
                  <a:srgbClr val="CCCCCC"/>
                </a:solidFill>
                <a:latin typeface="Calibri"/>
              </a:rPr>
              <a:t>Clinical integration study with radiologist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926080"/>
            <a:ext cx="3931920" cy="381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98DB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github.com/angel3848/brain-stroke-ct-classification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